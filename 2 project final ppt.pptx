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16" userDrawn="1">
          <p15:clr>
            <a:srgbClr val="747775"/>
          </p15:clr>
        </p15:guide>
        <p15:guide id="2" pos="2901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16"/>
        <p:guide pos="2901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738a53b07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738a53b07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738a53b07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738a53b07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738a53b07_0_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738a53b07_0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738a53b07_0_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738a53b07_0_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594a0c218_0_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594a0c218_0_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6da93ef24_0_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6da93ef24_0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594a0c218_0_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594a0c218_0_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738a53b07_0_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738a53b07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6da93ef24_0_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6da93ef24_0_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6da93ef24_0_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76da93ef24_0_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6da93ef24_0_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76da93ef24_0_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6da93ef24_0_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76da93ef24_0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6da93ef24_0_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6da93ef24_0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6da93ef24_0_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6da93ef24_0_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6da93ef24_0_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6da93ef24_0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6da93ef24_0_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76da93ef24_0_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6da93ef24_0_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6da93ef24_0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594a0c218_0_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594a0c218_0_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594a0c218_0_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6594a0c218_0_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594a0c218_0_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594a0c218_0_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3200" y="716774"/>
            <a:ext cx="8517600" cy="18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COMPARATIVE ANALYSIS OF MACHINE LEARNING ALGORITHMS FOR 5G COVERAGE PREDICTION</a:t>
            </a:r>
            <a:endParaRPr sz="5900"/>
          </a:p>
        </p:txBody>
      </p:sp>
      <p:sp>
        <p:nvSpPr>
          <p:cNvPr id="55" name="Google Shape;55;p13"/>
          <p:cNvSpPr txBox="1"/>
          <p:nvPr>
            <p:ph type="subTitle" idx="1"/>
          </p:nvPr>
        </p:nvSpPr>
        <p:spPr>
          <a:xfrm>
            <a:off x="3199025" y="3230600"/>
            <a:ext cx="5633400" cy="17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 :</a:t>
            </a:r>
            <a:endParaRPr sz="30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S.Chandra Kumar</a:t>
            </a:r>
            <a:endParaRPr sz="3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1053-23-504-052</a:t>
            </a:r>
            <a:endParaRPr sz="3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Stream:</a:t>
            </a:r>
            <a:r>
              <a:rPr lang="en-GB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MSc.(Computer Science)</a:t>
            </a:r>
            <a:endParaRPr sz="3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159100" y="117025"/>
            <a:ext cx="86733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ABSTRACT</a:t>
            </a:r>
            <a:endParaRPr sz="25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1" name="Google Shape;61;p14"/>
          <p:cNvSpPr txBox="1"/>
          <p:nvPr>
            <p:ph type="subTitle" idx="1"/>
          </p:nvPr>
        </p:nvSpPr>
        <p:spPr>
          <a:xfrm>
            <a:off x="249300" y="635950"/>
            <a:ext cx="4059900" cy="43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Predicts 5G signal strength in different areas using ML models instead of outdated traditional models. </a:t>
            </a:r>
            <a:endParaRPr lang="en-GB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Char char="●"/>
            </a:pPr>
            <a:endParaRPr sz="2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Char char="●"/>
            </a:pPr>
            <a:r>
              <a:rPr lang="en-GB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ML provides higher accuracy and adaptability than traditional models.</a:t>
            </a:r>
            <a:endParaRPr lang="en-GB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260900" y="468050"/>
            <a:ext cx="4619700" cy="44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63" name="Google Shape;63;p14"/>
          <p:cNvPicPr preferRelativeResize="0"/>
          <p:nvPr>
            <p:ph type="body" idx="4294967295"/>
          </p:nvPr>
        </p:nvPicPr>
        <p:blipFill rotWithShape="1">
          <a:blip r:embed="rId2"/>
          <a:srcRect l="5338" t="6288" r="9" b="-9"/>
          <a:stretch>
            <a:fillRect/>
          </a:stretch>
        </p:blipFill>
        <p:spPr>
          <a:xfrm>
            <a:off x="4309200" y="742775"/>
            <a:ext cx="4571400" cy="422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body" idx="1"/>
          </p:nvPr>
        </p:nvSpPr>
        <p:spPr>
          <a:xfrm>
            <a:off x="311700" y="162800"/>
            <a:ext cx="4572900" cy="48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EXISTING SYSTEMS</a:t>
            </a:r>
            <a:endParaRPr sz="96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179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Char char="●"/>
            </a:pPr>
            <a:r>
              <a:rPr lang="en-GB" sz="9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Traditional systems use Hata, COST-231, ITU-R models</a:t>
            </a:r>
            <a:r>
              <a:rPr lang="en-US" altLang="en-GB" sz="9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.</a:t>
            </a:r>
            <a:r>
              <a:rPr lang="en-GB" sz="9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9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179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Char char="●"/>
            </a:pPr>
            <a:r>
              <a:rPr lang="en-GB" sz="9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They rely on fixed equations, and do not perform well in dynamic 5G environments.</a:t>
            </a:r>
            <a:endParaRPr sz="9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 sz="1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GB" sz="9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DISADVANTAGES</a:t>
            </a:r>
            <a:endParaRPr lang="en-GB" sz="96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 sz="96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79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Char char="●"/>
            </a:pPr>
            <a:r>
              <a:rPr lang="en-GB" sz="1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Inaccurate in urban/indoor areas</a:t>
            </a:r>
            <a:endParaRPr sz="1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79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Char char="●"/>
            </a:pPr>
            <a:r>
              <a:rPr lang="en-GB" sz="1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 adaptability to new data</a:t>
            </a:r>
            <a:endParaRPr sz="1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79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Char char="●"/>
            </a:pPr>
            <a:r>
              <a:rPr lang="en-GB" sz="1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Poor mmWave</a:t>
            </a:r>
            <a:endParaRPr lang="en-GB" sz="1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039900" y="585325"/>
            <a:ext cx="3978050" cy="43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87625"/>
            <a:ext cx="8520600" cy="4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SYSTEM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5" name="Google Shape;75;p16"/>
          <p:cNvSpPr txBox="1"/>
          <p:nvPr>
            <p:ph type="body" idx="1"/>
          </p:nvPr>
        </p:nvSpPr>
        <p:spPr>
          <a:xfrm>
            <a:off x="311700" y="616400"/>
            <a:ext cx="8520600" cy="44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GB" sz="2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Smart Learning from Data:</a:t>
            </a:r>
            <a:br>
              <a:rPr lang="en-GB" sz="2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GB"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The system uses machine learning to learn from real and fake (simulated) data </a:t>
            </a:r>
            <a:r>
              <a:rPr lang="en-US" altLang="en-GB"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r>
              <a:rPr lang="en-GB"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so it can </a:t>
            </a:r>
            <a:r>
              <a:rPr lang="en-GB" sz="2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guess 5G signal coverage</a:t>
            </a:r>
            <a:r>
              <a:rPr lang="en-GB"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more accurately.</a:t>
            </a:r>
            <a:endParaRPr sz="2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Uses Multiple ML Models:</a:t>
            </a:r>
            <a:br>
              <a:rPr lang="en-GB" sz="2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GB"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It uses machine learning models like </a:t>
            </a:r>
            <a:r>
              <a:rPr lang="en-GB" sz="2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Linear Regression, </a:t>
            </a:r>
            <a:r>
              <a:rPr lang="en-GB"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to make better predictions and </a:t>
            </a:r>
            <a:r>
              <a:rPr lang="en-GB" sz="2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keeps improving</a:t>
            </a:r>
            <a:r>
              <a:rPr lang="en-GB"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as it gets new data.</a:t>
            </a:r>
            <a:endParaRPr sz="2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Accuracy + Map View:</a:t>
            </a:r>
            <a:br>
              <a:rPr lang="en-GB" sz="2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GB"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It checks how correct the results are using </a:t>
            </a:r>
            <a:r>
              <a:rPr lang="en-GB" sz="2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MAE, RMSE, and R² scores</a:t>
            </a:r>
            <a:r>
              <a:rPr lang="en-GB"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and shows </a:t>
            </a:r>
            <a:r>
              <a:rPr lang="en-GB" sz="2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5G coverage maps using GIS tools</a:t>
            </a:r>
            <a:r>
              <a:rPr lang="en-GB"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which helps in </a:t>
            </a:r>
            <a:r>
              <a:rPr lang="en-GB" sz="2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planning where to place towers</a:t>
            </a:r>
            <a:r>
              <a:rPr lang="en-GB"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sz="2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body" idx="1"/>
          </p:nvPr>
        </p:nvSpPr>
        <p:spPr>
          <a:xfrm>
            <a:off x="311700" y="77950"/>
            <a:ext cx="8520600" cy="506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r>
              <a:rPr lang="en-GB" sz="10025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ADVANTAGES</a:t>
            </a:r>
            <a:endParaRPr sz="10025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885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Char char="●"/>
            </a:pPr>
            <a:r>
              <a:rPr lang="en-GB" sz="7625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Gives more accurate results</a:t>
            </a:r>
            <a:endParaRPr lang="en-GB" sz="7625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885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Char char="●"/>
            </a:pPr>
            <a:r>
              <a:rPr lang="en-GB" sz="7625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Can easily adjust to new locations and situations.</a:t>
            </a:r>
            <a:endParaRPr sz="7625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88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Char char="●"/>
            </a:pPr>
            <a:r>
              <a:rPr lang="en-GB" sz="7625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Saves time by reducing the need for manual work.</a:t>
            </a:r>
            <a:endParaRPr sz="7625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88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Char char="●"/>
            </a:pPr>
            <a:r>
              <a:rPr lang="en-GB" sz="7625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Works well with high-frequency 5G signals (like mmWave).</a:t>
            </a:r>
            <a:endParaRPr sz="7625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r>
              <a:rPr lang="en-GB" sz="10025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APPLICATIONS</a:t>
            </a:r>
            <a:endParaRPr sz="10025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885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Char char="●"/>
            </a:pPr>
            <a:r>
              <a:rPr lang="en-GB" sz="7625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Helps to design better Telecom networks.</a:t>
            </a:r>
            <a:endParaRPr sz="7625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88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Char char="●"/>
            </a:pPr>
            <a:r>
              <a:rPr lang="en-GB" sz="7625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Useful for planning 5G in both cities and villages.</a:t>
            </a:r>
            <a:endParaRPr sz="7625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88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Char char="●"/>
            </a:pPr>
            <a:r>
              <a:rPr lang="en-GB" sz="7625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Supports smart city development.</a:t>
            </a:r>
            <a:endParaRPr sz="7625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88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Char char="●"/>
            </a:pPr>
            <a:r>
              <a:rPr lang="en-GB" sz="7625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Useful for connecting self-driving (autonomous) vehicles.</a:t>
            </a:r>
            <a:endParaRPr lang="en-GB" sz="7625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188250" y="78725"/>
            <a:ext cx="8644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ALGORITHMS</a:t>
            </a:r>
            <a:r>
              <a:rPr lang="en-US" altLang="en-GB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</a:t>
            </a:r>
            <a:endParaRPr lang="en-US" altLang="en-GB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6" name="Google Shape;86;p18"/>
          <p:cNvSpPr txBox="1"/>
          <p:nvPr>
            <p:ph type="body" idx="1"/>
          </p:nvPr>
        </p:nvSpPr>
        <p:spPr>
          <a:xfrm>
            <a:off x="187960" y="544195"/>
            <a:ext cx="8866505" cy="45993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Linear Regression</a:t>
            </a:r>
            <a:r>
              <a:rPr lang="en-US" altLang="en-GB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is used to find the relationship between variables.</a:t>
            </a:r>
            <a:endParaRPr lang="en-US" altLang="en-US" sz="24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It takes input data (independent variable) and output data (dependent variable).</a:t>
            </a:r>
            <a:endParaRPr lang="en-US" altLang="en-US" sz="24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indent="-4572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alt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algorithm fits a straight line through the data points.</a:t>
            </a:r>
            <a:endParaRPr lang="en-US" altLang="en-US" sz="28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indent="-4572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alt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This line shows how the output changes with the input.</a:t>
            </a:r>
            <a:endParaRPr lang="en-US" altLang="en-US" sz="28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indent="-4572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alt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It helps to make predictions for new or unseen data.</a:t>
            </a:r>
            <a:endParaRPr lang="en-US" altLang="en-US" sz="28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indent="-457200" algn="l" rtl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en-US" sz="28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5587895" y="3973350"/>
            <a:ext cx="3556200" cy="7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Char char="●"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body" idx="1"/>
          </p:nvPr>
        </p:nvSpPr>
        <p:spPr>
          <a:xfrm>
            <a:off x="311700" y="208600"/>
            <a:ext cx="8520600" cy="47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9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Step-by-</a:t>
            </a:r>
            <a:r>
              <a:rPr lang="en-US" altLang="en-GB" sz="9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</a:t>
            </a:r>
            <a:r>
              <a:rPr lang="en-GB" sz="9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tep Process of Linear Regression</a:t>
            </a:r>
            <a:r>
              <a:rPr lang="en-US" altLang="en-GB" sz="9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</a:t>
            </a:r>
            <a:endParaRPr sz="96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306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9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Collect Data</a:t>
            </a:r>
            <a:r>
              <a:rPr lang="en-GB" sz="9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→ Gather historical(Past) observations with inputs (features) and output (target).</a:t>
            </a:r>
            <a:br>
              <a:rPr lang="en-GB" sz="9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GB" sz="9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GB" sz="9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Example: </a:t>
            </a:r>
            <a:r>
              <a:rPr lang="en-GB" sz="9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5G network logs: Signal strength, number of users, and speed.</a:t>
            </a:r>
            <a:endParaRPr sz="9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306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9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Train the Model</a:t>
            </a:r>
            <a:r>
              <a:rPr lang="en-GB" sz="9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→ The algorithm calculates the </a:t>
            </a:r>
            <a:r>
              <a:rPr lang="en-GB" sz="9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best line</a:t>
            </a:r>
            <a:r>
              <a:rPr lang="en-GB" sz="9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that minimizes errors (difference between predicted and actual speed).</a:t>
            </a:r>
            <a:endParaRPr sz="9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306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9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Test / Predict</a:t>
            </a:r>
            <a:r>
              <a:rPr lang="en-GB" sz="9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→ Give new input values to the model. It predicts the speed.</a:t>
            </a:r>
            <a:endParaRPr sz="9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5306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9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Evaluate Accuracy</a:t>
            </a:r>
            <a:r>
              <a:rPr lang="en-GB" sz="9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→ Compare predicted speeds to actual measured speeds to see how well the model works.</a:t>
            </a:r>
            <a:endParaRPr sz="9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0"/>
            <a:ext cx="8520600" cy="4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MODULES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20"/>
          <p:cNvSpPr txBox="1"/>
          <p:nvPr>
            <p:ph type="body" idx="1"/>
          </p:nvPr>
        </p:nvSpPr>
        <p:spPr>
          <a:xfrm>
            <a:off x="71120" y="483235"/>
            <a:ext cx="8761095" cy="46602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</a:t>
            </a:r>
            <a:r>
              <a:rPr lang="en-GB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Data Collection: </a:t>
            </a:r>
            <a:r>
              <a:rPr lang="en-GB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Collects 5G signal info like strength, location, and terrain from real or fake data.</a:t>
            </a: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Data Preprocessing: </a:t>
            </a:r>
            <a:r>
              <a:rPr lang="en-GB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Cleans and fixes the data to make it ready for machine learning.</a:t>
            </a: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n-GB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r>
            <a:r>
              <a:rPr lang="en-GB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Model Training: </a:t>
            </a:r>
            <a:r>
              <a:rPr lang="en-GB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Teaches ML models using clean data to understand signal patterns.</a:t>
            </a: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n-GB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</a:t>
            </a:r>
            <a:r>
              <a:rPr lang="en-GB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Prediction &amp; Evaluation: </a:t>
            </a:r>
            <a:r>
              <a:rPr lang="en-GB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Uses the model to guess signal in new places and checks how correct it is.</a:t>
            </a: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n-GB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r>
              <a:rPr lang="en-GB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Visualization &amp; Deployment: </a:t>
            </a:r>
            <a:r>
              <a:rPr lang="en-GB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Shows results as maps or charts to help plan 5G network areas easily.</a:t>
            </a: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body" idx="1"/>
          </p:nvPr>
        </p:nvSpPr>
        <p:spPr>
          <a:xfrm>
            <a:off x="81280" y="-635"/>
            <a:ext cx="8970010" cy="49104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pic>
        <p:nvPicPr>
          <p:cNvPr id="104" name="Google Shape;104;p2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30911" y="130049"/>
            <a:ext cx="4344234" cy="20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4768275" y="392550"/>
            <a:ext cx="3896700" cy="20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681675" y="130000"/>
            <a:ext cx="4369675" cy="203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7725" y="2316525"/>
            <a:ext cx="8572948" cy="203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1"/>
          <p:cNvSpPr txBox="1"/>
          <p:nvPr/>
        </p:nvSpPr>
        <p:spPr>
          <a:xfrm>
            <a:off x="380900" y="4326550"/>
            <a:ext cx="8526600" cy="5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GB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Load → Clean → Train Models → Check Accuracy → Pick Best Mode</a:t>
            </a: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body" idx="1"/>
          </p:nvPr>
        </p:nvSpPr>
        <p:spPr>
          <a:xfrm>
            <a:off x="311700" y="284900"/>
            <a:ext cx="8520600" cy="45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OUTPUT SCREENS:</a:t>
            </a:r>
            <a:endParaRPr sz="20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14" name="Google Shape;114;p22" title="IMG-20250821-WA0022.jp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11700" y="758050"/>
            <a:ext cx="8520600" cy="420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REQUIREMENT SPECIFICATIONS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Google Shape;152;p31"/>
          <p:cNvSpPr txBox="1"/>
          <p:nvPr>
            <p:ph type="body" idx="1"/>
          </p:nvPr>
        </p:nvSpPr>
        <p:spPr>
          <a:xfrm>
            <a:off x="311700" y="572700"/>
            <a:ext cx="8520600" cy="45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Hardware Specifications :</a:t>
            </a:r>
            <a:endParaRPr sz="20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 panose="02020603050405020304"/>
              <a:buChar char="●"/>
            </a:pPr>
            <a:r>
              <a:rPr lang="en-GB" sz="19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Processor :</a:t>
            </a:r>
            <a:r>
              <a:rPr lang="en-GB" sz="19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intel i5</a:t>
            </a:r>
            <a:endParaRPr sz="19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 panose="02020603050405020304"/>
              <a:buChar char="●"/>
            </a:pPr>
            <a:r>
              <a:rPr lang="en-GB" sz="19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RAM : </a:t>
            </a:r>
            <a:r>
              <a:rPr lang="en-GB" sz="19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8GB RAM</a:t>
            </a:r>
            <a:endParaRPr sz="19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 panose="02020603050405020304"/>
              <a:buChar char="●"/>
            </a:pPr>
            <a:r>
              <a:rPr lang="en-GB" sz="19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Hard Disk : </a:t>
            </a:r>
            <a:r>
              <a:rPr lang="en-GB" sz="19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500GB - 1 TB SSD</a:t>
            </a:r>
            <a:endParaRPr sz="19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 panose="02020603050405020304"/>
              <a:buChar char="●"/>
            </a:pPr>
            <a:r>
              <a:rPr lang="en-GB" sz="19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Connectivity:</a:t>
            </a:r>
            <a:r>
              <a:rPr lang="en-GB" sz="19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5G/4G LTE/Wi-Fi 6</a:t>
            </a:r>
            <a:endParaRPr sz="19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Software Specifications :</a:t>
            </a:r>
            <a:endParaRPr sz="20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 panose="02020603050405020304"/>
              <a:buChar char="●"/>
            </a:pPr>
            <a:r>
              <a:rPr lang="en-GB" sz="19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Operating System :</a:t>
            </a:r>
            <a:r>
              <a:rPr lang="en-GB" sz="19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Windows XP/8/10</a:t>
            </a:r>
            <a:endParaRPr sz="19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 panose="02020603050405020304"/>
              <a:buChar char="●"/>
            </a:pPr>
            <a:r>
              <a:rPr lang="en-GB" sz="19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Coding Language :</a:t>
            </a:r>
            <a:r>
              <a:rPr lang="en-GB" sz="19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Python </a:t>
            </a:r>
            <a:endParaRPr sz="19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 panose="02020603050405020304"/>
              <a:buChar char="●"/>
            </a:pPr>
            <a:r>
              <a:rPr lang="en-GB" sz="19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Database : </a:t>
            </a:r>
            <a:r>
              <a:rPr lang="en-GB" sz="19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MySQL </a:t>
            </a:r>
            <a:endParaRPr sz="19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 panose="02020603050405020304"/>
              <a:buChar char="●"/>
            </a:pPr>
            <a:r>
              <a:rPr lang="en-GB" sz="19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Tools: </a:t>
            </a:r>
            <a:r>
              <a:rPr lang="en-GB" sz="19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Scikit-learn, Pandas, Matplotlib, Seaborn</a:t>
            </a:r>
            <a:endParaRPr sz="19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 panose="02020603050405020304"/>
              <a:buChar char="●"/>
            </a:pPr>
            <a:r>
              <a:rPr lang="en-GB" sz="19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Software Used : </a:t>
            </a:r>
            <a:r>
              <a:rPr lang="en-GB" sz="19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VS Code</a:t>
            </a:r>
            <a:endParaRPr sz="19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type="body" idx="1"/>
          </p:nvPr>
        </p:nvSpPr>
        <p:spPr>
          <a:xfrm>
            <a:off x="311700" y="86475"/>
            <a:ext cx="8520600" cy="50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</a:t>
            </a:r>
            <a:r>
              <a:rPr lang="en-US" altLang="en-GB" sz="3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</a:t>
            </a: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144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Char char="●"/>
            </a:pPr>
            <a:r>
              <a:rPr lang="en-GB" sz="3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Predict 5G coverage using ML</a:t>
            </a:r>
            <a:endParaRPr sz="3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144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Char char="●"/>
            </a:pPr>
            <a:r>
              <a:rPr lang="en-GB" sz="3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Compare performance of ML models</a:t>
            </a:r>
            <a:endParaRPr sz="3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144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Char char="●"/>
            </a:pPr>
            <a:r>
              <a:rPr lang="en-GB" sz="3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Help in real-world tower placement</a:t>
            </a:r>
            <a:endParaRPr sz="3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144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Char char="●"/>
            </a:pPr>
            <a:r>
              <a:rPr lang="en-GB" sz="3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Build an intelligent, automated system</a:t>
            </a:r>
            <a:endParaRPr lang="en-GB" sz="32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 txBox="1"/>
          <p:nvPr/>
        </p:nvSpPr>
        <p:spPr>
          <a:xfrm>
            <a:off x="1443050" y="1640700"/>
            <a:ext cx="59526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 YOU</a:t>
            </a:r>
            <a:endParaRPr sz="7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3333</Words>
  <Application>WPS Presentation</Application>
  <PresentationFormat/>
  <Paragraphs>96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Simple Light</vt:lpstr>
      <vt:lpstr>COMPARATIVE ANALYSIS OF MACHINE LEARNING ALGORITHMS FOR 5G COVERAGE PREDICTION</vt:lpstr>
      <vt:lpstr>ABSTRACT</vt:lpstr>
      <vt:lpstr>PowerPoint 演示文稿</vt:lpstr>
      <vt:lpstr>PROPOSED SYSTEM</vt:lpstr>
      <vt:lpstr>PowerPoint 演示文稿</vt:lpstr>
      <vt:lpstr>ALGORITHMS :</vt:lpstr>
      <vt:lpstr>PowerPoint 演示文稿</vt:lpstr>
      <vt:lpstr>MODULES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REQUIREMENT SPECIFICATIONS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ANALYSIS OF MACHINE LEARNING ALGORITHMS FOR 5G COVERAGE PREDICTION</dc:title>
  <dc:creator/>
  <cp:lastModifiedBy>Chandra Kumar</cp:lastModifiedBy>
  <cp:revision>8</cp:revision>
  <dcterms:created xsi:type="dcterms:W3CDTF">2025-09-12T14:02:00Z</dcterms:created>
  <dcterms:modified xsi:type="dcterms:W3CDTF">2025-09-13T05:02:30Z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8F1467FB0841497F93C866B01BAC3BE6_13</vt:lpwstr>
  </property>
  <property fmtid="{D5CDD505-2E9C-101B-9397-08002B2CF9AE}" pid="3" name="KSOProductBuildVer">
    <vt:lpwstr>1033-12.2.0.21931</vt:lpwstr>
  </property>
</Properties>
</file>